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4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Quantity Ordered</c:v>
                </c:pt>
              </c:strCache>
            </c:strRef>
          </c:tx>
          <c:spPr>
            <a:solidFill>
              <a:srgbClr val="F9616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42938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Classic Deluxe</c:v>
                </c:pt>
                <c:pt idx="1">
                  <c:v>BBQ Chicken</c:v>
                </c:pt>
                <c:pt idx="2">
                  <c:v>Hawaiian</c:v>
                </c:pt>
                <c:pt idx="3">
                  <c:v>Pepperoni</c:v>
                </c:pt>
                <c:pt idx="4">
                  <c:v>Thai Chicken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2453</c:v>
                </c:pt>
                <c:pt idx="1">
                  <c:v>2432</c:v>
                </c:pt>
                <c:pt idx="2">
                  <c:v>2422</c:v>
                </c:pt>
                <c:pt idx="3">
                  <c:v>2418</c:v>
                </c:pt>
                <c:pt idx="4">
                  <c:v>2371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796-4D4B-B2C5-EA694CECFED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24293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Quantity</c:v>
                </c:pt>
              </c:strCache>
            </c:strRef>
          </c:tx>
          <c:spPr>
            <a:solidFill>
              <a:srgbClr val="2F3C7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 b="0" i="0" u="none" strike="noStrike">
                    <a:solidFill>
                      <a:srgbClr val="242938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Classic</c:v>
                </c:pt>
                <c:pt idx="1">
                  <c:v>Supreme</c:v>
                </c:pt>
                <c:pt idx="2">
                  <c:v>Veggie</c:v>
                </c:pt>
                <c:pt idx="3">
                  <c:v>Chicken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14888</c:v>
                </c:pt>
                <c:pt idx="1">
                  <c:v>11987</c:v>
                </c:pt>
                <c:pt idx="2">
                  <c:v>11649</c:v>
                </c:pt>
                <c:pt idx="3">
                  <c:v>11050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35D-4F27-964F-2EEC3838471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4293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Menu Items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F3C7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5CD-48BD-8F3D-356ADD3F888D}"/>
              </c:ext>
            </c:extLst>
          </c:dPt>
          <c:dPt>
            <c:idx val="1"/>
            <c:bubble3D val="0"/>
            <c:spPr>
              <a:solidFill>
                <a:srgbClr val="F9616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5CD-48BD-8F3D-356ADD3F888D}"/>
              </c:ext>
            </c:extLst>
          </c:dPt>
          <c:dPt>
            <c:idx val="2"/>
            <c:bubble3D val="0"/>
            <c:spPr>
              <a:solidFill>
                <a:srgbClr val="F9E79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5CD-48BD-8F3D-356ADD3F888D}"/>
              </c:ext>
            </c:extLst>
          </c:dPt>
          <c:dPt>
            <c:idx val="3"/>
            <c:bubble3D val="0"/>
            <c:spPr>
              <a:solidFill>
                <a:srgbClr val="84B59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5CD-48BD-8F3D-356ADD3F888D}"/>
              </c:ext>
            </c:extLst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5CD-48BD-8F3D-356ADD3F888D}"/>
                </c:ext>
              </c:extLst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5CD-48BD-8F3D-356ADD3F888D}"/>
                </c:ext>
              </c:extLst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5CD-48BD-8F3D-356ADD3F888D}"/>
                </c:ext>
              </c:extLst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65CD-48BD-8F3D-356ADD3F888D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Classic</c:v>
                </c:pt>
                <c:pt idx="1">
                  <c:v>Chicken</c:v>
                </c:pt>
                <c:pt idx="2">
                  <c:v>Supreme</c:v>
                </c:pt>
                <c:pt idx="3">
                  <c:v>Veggie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</c:v>
                </c:pt>
                <c:pt idx="1">
                  <c:v>6</c:v>
                </c:pt>
                <c:pt idx="2">
                  <c:v>9</c:v>
                </c:pt>
                <c:pt idx="3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65CD-48BD-8F3D-356ADD3F888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
              <a:solidFill>
                <a:srgbClr val="242938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%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F3C7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C0E3-4AD3-B167-5AA29CBD61E1}"/>
              </c:ext>
            </c:extLst>
          </c:dPt>
          <c:dPt>
            <c:idx val="1"/>
            <c:bubble3D val="0"/>
            <c:spPr>
              <a:solidFill>
                <a:srgbClr val="F9616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0E3-4AD3-B167-5AA29CBD61E1}"/>
              </c:ext>
            </c:extLst>
          </c:dPt>
          <c:dPt>
            <c:idx val="2"/>
            <c:bubble3D val="0"/>
            <c:spPr>
              <a:solidFill>
                <a:srgbClr val="F9E79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0E3-4AD3-B167-5AA29CBD61E1}"/>
              </c:ext>
            </c:extLst>
          </c:dPt>
          <c:dPt>
            <c:idx val="3"/>
            <c:bubble3D val="0"/>
            <c:spPr>
              <a:solidFill>
                <a:srgbClr val="84B59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0E3-4AD3-B167-5AA29CBD61E1}"/>
              </c:ext>
            </c:extLst>
          </c:dPt>
          <c:dLbls>
            <c:dLbl>
              <c:idx val="0"/>
              <c:numFmt formatCode="0.0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0E3-4AD3-B167-5AA29CBD61E1}"/>
                </c:ext>
              </c:extLst>
            </c:dLbl>
            <c:dLbl>
              <c:idx val="1"/>
              <c:numFmt formatCode="0.0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0E3-4AD3-B167-5AA29CBD61E1}"/>
                </c:ext>
              </c:extLst>
            </c:dLbl>
            <c:dLbl>
              <c:idx val="2"/>
              <c:numFmt formatCode="0.0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C0E3-4AD3-B167-5AA29CBD61E1}"/>
                </c:ext>
              </c:extLst>
            </c:dLbl>
            <c:dLbl>
              <c:idx val="3"/>
              <c:numFmt formatCode="0.0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C0E3-4AD3-B167-5AA29CBD61E1}"/>
                </c:ext>
              </c:extLst>
            </c:dLbl>
            <c:numFmt formatCode="0.0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Classic</c:v>
                </c:pt>
                <c:pt idx="1">
                  <c:v>Supreme</c:v>
                </c:pt>
                <c:pt idx="2">
                  <c:v>Chicken</c:v>
                </c:pt>
                <c:pt idx="3">
                  <c:v>Veggie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26.91</c:v>
                </c:pt>
                <c:pt idx="1">
                  <c:v>25.46</c:v>
                </c:pt>
                <c:pt idx="2">
                  <c:v>23.96</c:v>
                </c:pt>
                <c:pt idx="3">
                  <c:v>23.68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0E3-4AD3-B167-5AA29CBD61E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50">
              <a:solidFill>
                <a:srgbClr val="242938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68083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3C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828800"/>
            <a:ext cx="5669280" cy="5669280"/>
          </a:xfrm>
          <a:prstGeom prst="ellipse">
            <a:avLst/>
          </a:prstGeom>
          <a:solidFill>
            <a:srgbClr val="212A5C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3291840" cy="3291840"/>
          </a:xfrm>
          <a:prstGeom prst="ellipse">
            <a:avLst/>
          </a:prstGeom>
          <a:solidFill>
            <a:srgbClr val="212A5C"/>
          </a:solidFill>
          <a:ln/>
        </p:spPr>
      </p:sp>
      <p:sp>
        <p:nvSpPr>
          <p:cNvPr id="4" name="Shape 2"/>
          <p:cNvSpPr/>
          <p:nvPr/>
        </p:nvSpPr>
        <p:spPr>
          <a:xfrm>
            <a:off x="-1188720" y="4572000"/>
            <a:ext cx="3291840" cy="3291840"/>
          </a:xfrm>
          <a:prstGeom prst="ellipse">
            <a:avLst/>
          </a:prstGeom>
          <a:solidFill>
            <a:srgbClr val="212A5C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777240"/>
            <a:ext cx="822960" cy="82296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6" name="Image 0" descr="/home/claude/icons/pizz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945" y="884225"/>
            <a:ext cx="608990" cy="6089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331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DATA ANALYSIS PROJECT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04672" y="2697480"/>
            <a:ext cx="100584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Pizza Sales Analysis</a:t>
            </a:r>
            <a:endParaRPr lang="en-US" sz="5400" dirty="0"/>
          </a:p>
        </p:txBody>
      </p:sp>
      <p:sp>
        <p:nvSpPr>
          <p:cNvPr id="9" name="Text 6"/>
          <p:cNvSpPr/>
          <p:nvPr/>
        </p:nvSpPr>
        <p:spPr>
          <a:xfrm>
            <a:off x="822960" y="379476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Uncovering revenue, demand, and category trends from 21,350 pizza orders using MySQL — from basic KPIs to advanced window-function ranking.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841248" y="5074920"/>
            <a:ext cx="2011680" cy="0"/>
          </a:xfrm>
          <a:prstGeom prst="line">
            <a:avLst/>
          </a:prstGeom>
          <a:noFill/>
          <a:ln w="31750">
            <a:solidFill>
              <a:srgbClr val="F9616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525780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Unnati Sonwane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822960" y="56692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 |  Excel  •  SQL  •  Power BI  •  Python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ME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Person Behind the Project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200400" cy="4754880"/>
          </a:xfrm>
          <a:prstGeom prst="roundRect">
            <a:avLst>
              <a:gd name="adj" fmla="val 2857"/>
            </a:avLst>
          </a:prstGeom>
          <a:solidFill>
            <a:srgbClr val="2F3C7E"/>
          </a:solidFill>
          <a:ln/>
        </p:spPr>
      </p:sp>
      <p:sp>
        <p:nvSpPr>
          <p:cNvPr id="5" name="Shape 3"/>
          <p:cNvSpPr/>
          <p:nvPr/>
        </p:nvSpPr>
        <p:spPr>
          <a:xfrm>
            <a:off x="1417320" y="1783080"/>
            <a:ext cx="1463040" cy="14630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1417320" y="178308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31520" y="33832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Unnati Sonwane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74904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(Fresher)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77240" y="4114800"/>
            <a:ext cx="292608" cy="292608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0" name="Image 0" descr="/home/claude/icons/p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279" y="4152839"/>
            <a:ext cx="216530" cy="21653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88720" y="4087368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88720" y="4288536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Gondia, Maharashtra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77240" y="4800600"/>
            <a:ext cx="292608" cy="292608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4" name="Image 1" descr="/home/claude/icons/gra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279" y="4838639"/>
            <a:ext cx="216530" cy="21653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188720" y="4773168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88720" y="4974336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B.E. Computer Engineering, 2023–2026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777240" y="5486400"/>
            <a:ext cx="292608" cy="292608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8" name="Image 2" descr="/home/claude/icons/aw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279" y="5524439"/>
            <a:ext cx="216530" cy="21653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188720" y="5458968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CERTIFICATIONS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88720" y="5660136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Deloitte Data Analytics Job Simulation; Data Analytics — Puneri Patterns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4069080" y="1463040"/>
            <a:ext cx="7543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42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Unnati Sonwane, a fresher Data Analyst based in Gondia, Maharashtra, currently completing my B.E. in Computer Engineering (2023–2026). I work with Excel, SQL, Power BI, and Python (Pandas/NumPy) to clean, analyse, and visualize data — turning raw datasets into insights that support real business decisions.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4069080" y="2514600"/>
            <a:ext cx="7543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42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built this project to practice and demonstrate practical SQL querying — starting with simple aggregate functions and working up to multi-table joins, subqueries, and window functions (RANK() OVER PARTITION BY) — on a realistic, relational retail dataset.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4069080" y="3611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SKILLS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4069080" y="3977640"/>
            <a:ext cx="717804" cy="420624"/>
          </a:xfrm>
          <a:prstGeom prst="roundRect">
            <a:avLst>
              <a:gd name="adj" fmla="val 17391"/>
            </a:avLst>
          </a:prstGeom>
          <a:solidFill>
            <a:srgbClr val="F7F7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4069080" y="3977640"/>
            <a:ext cx="71780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4951476" y="3977640"/>
            <a:ext cx="547726" cy="420624"/>
          </a:xfrm>
          <a:prstGeom prst="roundRect">
            <a:avLst>
              <a:gd name="adj" fmla="val 17391"/>
            </a:avLst>
          </a:prstGeom>
          <a:solidFill>
            <a:srgbClr val="F7F7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4951476" y="3977640"/>
            <a:ext cx="54772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150" dirty="0"/>
          </a:p>
        </p:txBody>
      </p:sp>
      <p:sp>
        <p:nvSpPr>
          <p:cNvPr id="28" name="Shape 23"/>
          <p:cNvSpPr/>
          <p:nvPr/>
        </p:nvSpPr>
        <p:spPr>
          <a:xfrm>
            <a:off x="5663794" y="3977640"/>
            <a:ext cx="972922" cy="420624"/>
          </a:xfrm>
          <a:prstGeom prst="roundRect">
            <a:avLst>
              <a:gd name="adj" fmla="val 17391"/>
            </a:avLst>
          </a:prstGeom>
          <a:solidFill>
            <a:srgbClr val="F7F7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5663794" y="3977640"/>
            <a:ext cx="97292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150" dirty="0"/>
          </a:p>
        </p:txBody>
      </p:sp>
      <p:sp>
        <p:nvSpPr>
          <p:cNvPr id="30" name="Shape 25"/>
          <p:cNvSpPr/>
          <p:nvPr/>
        </p:nvSpPr>
        <p:spPr>
          <a:xfrm>
            <a:off x="6801307" y="3977640"/>
            <a:ext cx="2078431" cy="420624"/>
          </a:xfrm>
          <a:prstGeom prst="roundRect">
            <a:avLst>
              <a:gd name="adj" fmla="val 17391"/>
            </a:avLst>
          </a:prstGeom>
          <a:solidFill>
            <a:srgbClr val="F7F7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6801307" y="3977640"/>
            <a:ext cx="2078431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(Pandas/NumPy)</a:t>
            </a:r>
            <a:endParaRPr lang="en-US" sz="1150" dirty="0"/>
          </a:p>
        </p:txBody>
      </p:sp>
      <p:sp>
        <p:nvSpPr>
          <p:cNvPr id="32" name="Shape 27"/>
          <p:cNvSpPr/>
          <p:nvPr/>
        </p:nvSpPr>
        <p:spPr>
          <a:xfrm>
            <a:off x="9044330" y="3977640"/>
            <a:ext cx="1908353" cy="420624"/>
          </a:xfrm>
          <a:prstGeom prst="roundRect">
            <a:avLst>
              <a:gd name="adj" fmla="val 17391"/>
            </a:avLst>
          </a:prstGeom>
          <a:solidFill>
            <a:srgbClr val="F7F7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9044330" y="3977640"/>
            <a:ext cx="1908353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EDA</a:t>
            </a:r>
            <a:endParaRPr lang="en-US" sz="1150" dirty="0"/>
          </a:p>
        </p:txBody>
      </p:sp>
      <p:sp>
        <p:nvSpPr>
          <p:cNvPr id="34" name="Shape 29"/>
          <p:cNvSpPr/>
          <p:nvPr/>
        </p:nvSpPr>
        <p:spPr>
          <a:xfrm>
            <a:off x="4069080" y="4709160"/>
            <a:ext cx="7543800" cy="1417320"/>
          </a:xfrm>
          <a:prstGeom prst="roundRect">
            <a:avLst>
              <a:gd name="adj" fmla="val 5161"/>
            </a:avLst>
          </a:prstGeom>
          <a:solidFill>
            <a:srgbClr val="F7F7F9"/>
          </a:solidFill>
          <a:ln/>
        </p:spPr>
      </p:sp>
      <p:sp>
        <p:nvSpPr>
          <p:cNvPr id="35" name="Shape 30"/>
          <p:cNvSpPr/>
          <p:nvPr/>
        </p:nvSpPr>
        <p:spPr>
          <a:xfrm>
            <a:off x="4315968" y="4956048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36" name="Image 3" descr="/home/claude/icons/bullsey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1348" y="5021428"/>
            <a:ext cx="372161" cy="372161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5029200" y="493776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Project</a:t>
            </a:r>
            <a:endParaRPr lang="en-US" sz="1400" dirty="0"/>
          </a:p>
        </p:txBody>
      </p:sp>
      <p:sp>
        <p:nvSpPr>
          <p:cNvPr id="38" name="Text 32"/>
          <p:cNvSpPr/>
          <p:nvPr/>
        </p:nvSpPr>
        <p:spPr>
          <a:xfrm>
            <a:off x="5029200" y="5230368"/>
            <a:ext cx="6309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42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hands-on demonstration of SQL fluency on a realistic, relational retail dataset — from simple aggregates to advanced window-function ranking — mirroring the kind of analysis a real ops or marketing team relies on.</a:t>
            </a:r>
            <a:endParaRPr lang="en-US" sz="1150" dirty="0"/>
          </a:p>
        </p:txBody>
      </p:sp>
      <p:sp>
        <p:nvSpPr>
          <p:cNvPr id="39" name="Text 33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Pizza Sales SQL Analysis  |  Unnati Sonwane</a:t>
            </a:r>
            <a:endParaRPr lang="en-US" sz="950" dirty="0"/>
          </a:p>
        </p:txBody>
      </p:sp>
      <p:sp>
        <p:nvSpPr>
          <p:cNvPr id="40" name="Text 34"/>
          <p:cNvSpPr/>
          <p:nvPr/>
        </p:nvSpPr>
        <p:spPr>
          <a:xfrm>
            <a:off x="11368735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Project Does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42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relational pizza-sales dataset (orders, order line items, pizzas, and pizza types) was loaded into MySQL and queried end-to-end to answer 13 real business questions — spanning basic KPIs, multi-table joins, and advanced window-function analysis — the kind of analysis a restaurant chain's operations, finance, or marketing team would use to plan menu offerings, staffing, and promotions.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2651760" cy="3246120"/>
          </a:xfrm>
          <a:prstGeom prst="roundRect">
            <a:avLst>
              <a:gd name="adj" fmla="val 2759"/>
            </a:avLst>
          </a:prstGeom>
          <a:solidFill>
            <a:srgbClr val="2F3C7E"/>
          </a:solidFill>
          <a:ln/>
        </p:spPr>
      </p:sp>
      <p:sp>
        <p:nvSpPr>
          <p:cNvPr id="6" name="Shape 4"/>
          <p:cNvSpPr/>
          <p:nvPr/>
        </p:nvSpPr>
        <p:spPr>
          <a:xfrm>
            <a:off x="1554480" y="2834640"/>
            <a:ext cx="640080" cy="64008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7" name="Image 0" descr="/home/claude/icons/bullsey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7690" y="2917850"/>
            <a:ext cx="473659" cy="47365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26974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31520" y="37033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04672" y="4114800"/>
            <a:ext cx="2139696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D8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raw transactional pizza sales data into actionable KPIs — revenue, demand, and category performance.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429000" y="2514600"/>
            <a:ext cx="2651760" cy="3246120"/>
          </a:xfrm>
          <a:prstGeom prst="roundRect">
            <a:avLst>
              <a:gd name="adj" fmla="val 2759"/>
            </a:avLst>
          </a:prstGeom>
          <a:solidFill>
            <a:srgbClr val="F7F7F9"/>
          </a:solidFill>
          <a:ln/>
        </p:spPr>
      </p:sp>
      <p:sp>
        <p:nvSpPr>
          <p:cNvPr id="12" name="Shape 9"/>
          <p:cNvSpPr/>
          <p:nvPr/>
        </p:nvSpPr>
        <p:spPr>
          <a:xfrm>
            <a:off x="4434840" y="2834640"/>
            <a:ext cx="640080" cy="64008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3" name="Image 1" descr="/home/claude/icons/wren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8050" y="2917850"/>
            <a:ext cx="473659" cy="47365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11880" y="26974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5E7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11880" y="37033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3685032" y="4114800"/>
            <a:ext cx="2139696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242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Workbench — SELECT, JOIN, GROUP BY, subqueries, and RANK() OVER (window functions).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6309360" y="2514600"/>
            <a:ext cx="2651760" cy="3246120"/>
          </a:xfrm>
          <a:prstGeom prst="roundRect">
            <a:avLst>
              <a:gd name="adj" fmla="val 2759"/>
            </a:avLst>
          </a:prstGeom>
          <a:solidFill>
            <a:srgbClr val="2F3C7E"/>
          </a:solidFill>
          <a:ln/>
        </p:spPr>
      </p:sp>
      <p:sp>
        <p:nvSpPr>
          <p:cNvPr id="18" name="Shape 14"/>
          <p:cNvSpPr/>
          <p:nvPr/>
        </p:nvSpPr>
        <p:spPr>
          <a:xfrm>
            <a:off x="7315200" y="2834640"/>
            <a:ext cx="640080" cy="64008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9" name="Image 2" descr="/home/claude/icons/datab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8410" y="2917850"/>
            <a:ext cx="473659" cy="473659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492240" y="26974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92240" y="37033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6565392" y="4114800"/>
            <a:ext cx="2139696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D8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relational tables covering 21,350 orders across 32 distinct pizza types in 4 categories.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9189720" y="2514600"/>
            <a:ext cx="2651760" cy="3246120"/>
          </a:xfrm>
          <a:prstGeom prst="roundRect">
            <a:avLst>
              <a:gd name="adj" fmla="val 2759"/>
            </a:avLst>
          </a:prstGeom>
          <a:solidFill>
            <a:srgbClr val="F7F7F9"/>
          </a:solidFill>
          <a:ln/>
        </p:spPr>
      </p:sp>
      <p:sp>
        <p:nvSpPr>
          <p:cNvPr id="24" name="Shape 19"/>
          <p:cNvSpPr/>
          <p:nvPr/>
        </p:nvSpPr>
        <p:spPr>
          <a:xfrm>
            <a:off x="10195560" y="2834640"/>
            <a:ext cx="640080" cy="64008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25" name="Image 3" descr="/home/claude/icons/fla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78770" y="2917850"/>
            <a:ext cx="473659" cy="473659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372600" y="26974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5E7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9372600" y="37033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Deliverable</a:t>
            </a:r>
            <a:endParaRPr lang="en-US" sz="1600" dirty="0"/>
          </a:p>
        </p:txBody>
      </p:sp>
      <p:sp>
        <p:nvSpPr>
          <p:cNvPr id="28" name="Text 22"/>
          <p:cNvSpPr/>
          <p:nvPr/>
        </p:nvSpPr>
        <p:spPr>
          <a:xfrm>
            <a:off x="9445752" y="4114800"/>
            <a:ext cx="2139696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242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solved SQL queries answering basic, intermediate, and advanced business questions.</a:t>
            </a:r>
            <a:endParaRPr lang="en-US" sz="1150" dirty="0"/>
          </a:p>
        </p:txBody>
      </p:sp>
      <p:sp>
        <p:nvSpPr>
          <p:cNvPr id="29" name="Text 23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Pizza Sales SQL Analysis  |  Unnati Sonwane</a:t>
            </a:r>
            <a:endParaRPr lang="en-US" sz="950" dirty="0"/>
          </a:p>
        </p:txBody>
      </p:sp>
      <p:sp>
        <p:nvSpPr>
          <p:cNvPr id="30" name="Text 24"/>
          <p:cNvSpPr/>
          <p:nvPr/>
        </p:nvSpPr>
        <p:spPr>
          <a:xfrm>
            <a:off x="11368735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Model — 4 Related Tables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450592" cy="502920"/>
          </a:xfrm>
          <a:prstGeom prst="roundRect">
            <a:avLst>
              <a:gd name="adj" fmla="val 10909"/>
            </a:avLst>
          </a:prstGeom>
          <a:solidFill>
            <a:srgbClr val="2F3C7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08760"/>
            <a:ext cx="24505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2450592" cy="2331720"/>
          </a:xfrm>
          <a:prstGeom prst="roundRect">
            <a:avLst/>
          </a:prstGeom>
          <a:solidFill>
            <a:srgbClr val="F7F7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2167128"/>
            <a:ext cx="2121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order_id (PK)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13232" y="2551176"/>
            <a:ext cx="2121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429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order_date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13232" y="2935224"/>
            <a:ext cx="2121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429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order_time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980944" y="2724912"/>
            <a:ext cx="2926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255264" y="1508760"/>
            <a:ext cx="2450592" cy="502920"/>
          </a:xfrm>
          <a:prstGeom prst="roundRect">
            <a:avLst>
              <a:gd name="adj" fmla="val 10909"/>
            </a:avLst>
          </a:prstGeom>
          <a:solidFill>
            <a:srgbClr val="2F3C7E"/>
          </a:solidFill>
          <a:ln/>
        </p:spPr>
      </p:sp>
      <p:sp>
        <p:nvSpPr>
          <p:cNvPr id="12" name="Text 10"/>
          <p:cNvSpPr/>
          <p:nvPr/>
        </p:nvSpPr>
        <p:spPr>
          <a:xfrm>
            <a:off x="3255264" y="1508760"/>
            <a:ext cx="24505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order_details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3255264" y="2011680"/>
            <a:ext cx="2450592" cy="2331720"/>
          </a:xfrm>
          <a:prstGeom prst="roundRect">
            <a:avLst/>
          </a:prstGeom>
          <a:solidFill>
            <a:srgbClr val="F7F7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19856" y="2167128"/>
            <a:ext cx="2121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order_details_id (PK)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419856" y="2551176"/>
            <a:ext cx="2121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order_id (FK)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419856" y="2935224"/>
            <a:ext cx="2121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pizza_id (FK)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419856" y="3319272"/>
            <a:ext cx="2121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429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quantity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687568" y="2724912"/>
            <a:ext cx="2926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961888" y="1508760"/>
            <a:ext cx="2450592" cy="502920"/>
          </a:xfrm>
          <a:prstGeom prst="roundRect">
            <a:avLst>
              <a:gd name="adj" fmla="val 10909"/>
            </a:avLst>
          </a:prstGeom>
          <a:solidFill>
            <a:srgbClr val="2F3C7E"/>
          </a:solidFill>
          <a:ln/>
        </p:spPr>
      </p:sp>
      <p:sp>
        <p:nvSpPr>
          <p:cNvPr id="20" name="Text 18"/>
          <p:cNvSpPr/>
          <p:nvPr/>
        </p:nvSpPr>
        <p:spPr>
          <a:xfrm>
            <a:off x="5961888" y="1508760"/>
            <a:ext cx="24505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pizzas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961888" y="2011680"/>
            <a:ext cx="2450592" cy="2331720"/>
          </a:xfrm>
          <a:prstGeom prst="roundRect">
            <a:avLst/>
          </a:prstGeom>
          <a:solidFill>
            <a:srgbClr val="F7F7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26480" y="2167128"/>
            <a:ext cx="2121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pizza_id (PK)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126480" y="2551176"/>
            <a:ext cx="2121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pizza_type_id (FK)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126480" y="2935224"/>
            <a:ext cx="2121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429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size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126480" y="3319272"/>
            <a:ext cx="2121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429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price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394192" y="2724912"/>
            <a:ext cx="2926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8668512" y="1508760"/>
            <a:ext cx="2450592" cy="502920"/>
          </a:xfrm>
          <a:prstGeom prst="roundRect">
            <a:avLst>
              <a:gd name="adj" fmla="val 10909"/>
            </a:avLst>
          </a:prstGeom>
          <a:solidFill>
            <a:srgbClr val="2F3C7E"/>
          </a:solidFill>
          <a:ln/>
        </p:spPr>
      </p:sp>
      <p:sp>
        <p:nvSpPr>
          <p:cNvPr id="28" name="Text 26"/>
          <p:cNvSpPr/>
          <p:nvPr/>
        </p:nvSpPr>
        <p:spPr>
          <a:xfrm>
            <a:off x="8668512" y="1508760"/>
            <a:ext cx="24505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pizza_types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8668512" y="2011680"/>
            <a:ext cx="2450592" cy="2331720"/>
          </a:xfrm>
          <a:prstGeom prst="roundRect">
            <a:avLst/>
          </a:prstGeom>
          <a:solidFill>
            <a:srgbClr val="F7F7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833104" y="2167128"/>
            <a:ext cx="2121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pizza_type_id (PK)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833104" y="2551176"/>
            <a:ext cx="2121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429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name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833104" y="2935224"/>
            <a:ext cx="2121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429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category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833104" y="3319272"/>
            <a:ext cx="2121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429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ingredients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48640" y="45262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(1) → order_details (many) → pizzas (1) → pizza_types (1)   |   32 distinct pizza types across 4 categories: Classic, Chicken, Supreme, Veggie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548640" y="5074920"/>
            <a:ext cx="2651760" cy="1143000"/>
          </a:xfrm>
          <a:prstGeom prst="roundRect">
            <a:avLst>
              <a:gd name="adj" fmla="val 6400"/>
            </a:avLst>
          </a:prstGeom>
          <a:solidFill>
            <a:srgbClr val="F96167"/>
          </a:solidFill>
          <a:ln/>
        </p:spPr>
      </p:sp>
      <p:sp>
        <p:nvSpPr>
          <p:cNvPr id="36" name="Text 34"/>
          <p:cNvSpPr/>
          <p:nvPr/>
        </p:nvSpPr>
        <p:spPr>
          <a:xfrm>
            <a:off x="548640" y="5202936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21,350</a:t>
            </a:r>
            <a:endParaRPr lang="en-US" sz="3000" dirty="0"/>
          </a:p>
        </p:txBody>
      </p:sp>
      <p:sp>
        <p:nvSpPr>
          <p:cNvPr id="37" name="Text 35"/>
          <p:cNvSpPr/>
          <p:nvPr/>
        </p:nvSpPr>
        <p:spPr>
          <a:xfrm>
            <a:off x="548640" y="5824728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PLACED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429000" y="5074920"/>
            <a:ext cx="26517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29000" y="5202936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</a:t>
            </a:r>
            <a:endParaRPr lang="en-US" sz="3000" dirty="0"/>
          </a:p>
        </p:txBody>
      </p:sp>
      <p:sp>
        <p:nvSpPr>
          <p:cNvPr id="40" name="Text 38"/>
          <p:cNvSpPr/>
          <p:nvPr/>
        </p:nvSpPr>
        <p:spPr>
          <a:xfrm>
            <a:off x="3429000" y="5824728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PIZZA TYPES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309360" y="5074920"/>
            <a:ext cx="26517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09360" y="5202936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43" name="Text 41"/>
          <p:cNvSpPr/>
          <p:nvPr/>
        </p:nvSpPr>
        <p:spPr>
          <a:xfrm>
            <a:off x="6309360" y="5824728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9189720" y="5074920"/>
            <a:ext cx="26517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189720" y="5202936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 – L</a:t>
            </a:r>
            <a:endParaRPr lang="en-US" sz="3000" dirty="0"/>
          </a:p>
        </p:txBody>
      </p:sp>
      <p:sp>
        <p:nvSpPr>
          <p:cNvPr id="46" name="Text 44"/>
          <p:cNvSpPr/>
          <p:nvPr/>
        </p:nvSpPr>
        <p:spPr>
          <a:xfrm>
            <a:off x="9189720" y="5824728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RANGE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Pizza Sales SQL Analysis  |  Unnati Sonwane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11368735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Analysis Was Done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51760" cy="3200400"/>
          </a:xfrm>
          <a:prstGeom prst="roundRect">
            <a:avLst>
              <a:gd name="adj" fmla="val 2759"/>
            </a:avLst>
          </a:prstGeom>
          <a:solidFill>
            <a:srgbClr val="F7F7F9"/>
          </a:solidFill>
          <a:ln/>
        </p:spPr>
      </p:sp>
      <p:sp>
        <p:nvSpPr>
          <p:cNvPr id="5" name="Shape 3"/>
          <p:cNvSpPr/>
          <p:nvPr/>
        </p:nvSpPr>
        <p:spPr>
          <a:xfrm>
            <a:off x="1508760" y="1280160"/>
            <a:ext cx="731520" cy="731520"/>
          </a:xfrm>
          <a:prstGeom prst="ellipse">
            <a:avLst/>
          </a:prstGeom>
          <a:solidFill>
            <a:srgbClr val="2F3C7E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08760" y="12801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572768" y="2148840"/>
            <a:ext cx="603504" cy="603504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8" name="Image 0" descr="/home/claude/icons/box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1224" y="2227296"/>
            <a:ext cx="446593" cy="44659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29260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 &amp; Model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77240" y="3383280"/>
            <a:ext cx="2194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242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the 4 CSVs into MySQL (schema: pizzahut) and set up primary/foreign key relationships.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182112" y="1691640"/>
            <a:ext cx="2651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3429000" y="1554480"/>
            <a:ext cx="2651760" cy="3200400"/>
          </a:xfrm>
          <a:prstGeom prst="roundRect">
            <a:avLst>
              <a:gd name="adj" fmla="val 2759"/>
            </a:avLst>
          </a:prstGeom>
          <a:solidFill>
            <a:srgbClr val="F7F7F9"/>
          </a:solidFill>
          <a:ln/>
        </p:spPr>
      </p:sp>
      <p:sp>
        <p:nvSpPr>
          <p:cNvPr id="13" name="Shape 10"/>
          <p:cNvSpPr/>
          <p:nvPr/>
        </p:nvSpPr>
        <p:spPr>
          <a:xfrm>
            <a:off x="4389120" y="1280160"/>
            <a:ext cx="731520" cy="731520"/>
          </a:xfrm>
          <a:prstGeom prst="ellipse">
            <a:avLst/>
          </a:prstGeom>
          <a:solidFill>
            <a:srgbClr val="2F3C7E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389120" y="12801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4453128" y="2148840"/>
            <a:ext cx="603504" cy="603504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6" name="Image 1" descr="/home/claude/icons/magnif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1584" y="2227296"/>
            <a:ext cx="446593" cy="446593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611880" y="29260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Explore &amp; Validate</a:t>
            </a:r>
            <a:endParaRPr lang="en-US" sz="1450" dirty="0"/>
          </a:p>
        </p:txBody>
      </p:sp>
      <p:sp>
        <p:nvSpPr>
          <p:cNvPr id="18" name="Text 14"/>
          <p:cNvSpPr/>
          <p:nvPr/>
        </p:nvSpPr>
        <p:spPr>
          <a:xfrm>
            <a:off x="3657600" y="3383280"/>
            <a:ext cx="2194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242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row counts and joins across order_details ↔ orders ↔ pizzas ↔ pizza_types for consistency.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6062472" y="1691640"/>
            <a:ext cx="2651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6"/>
          <p:cNvSpPr/>
          <p:nvPr/>
        </p:nvSpPr>
        <p:spPr>
          <a:xfrm>
            <a:off x="6309360" y="1554480"/>
            <a:ext cx="2651760" cy="3200400"/>
          </a:xfrm>
          <a:prstGeom prst="roundRect">
            <a:avLst>
              <a:gd name="adj" fmla="val 2759"/>
            </a:avLst>
          </a:prstGeom>
          <a:solidFill>
            <a:srgbClr val="F7F7F9"/>
          </a:solidFill>
          <a:ln/>
        </p:spPr>
      </p:sp>
      <p:sp>
        <p:nvSpPr>
          <p:cNvPr id="21" name="Shape 17"/>
          <p:cNvSpPr/>
          <p:nvPr/>
        </p:nvSpPr>
        <p:spPr>
          <a:xfrm>
            <a:off x="7269480" y="1280160"/>
            <a:ext cx="731520" cy="731520"/>
          </a:xfrm>
          <a:prstGeom prst="ellipse">
            <a:avLst/>
          </a:prstGeom>
          <a:solidFill>
            <a:srgbClr val="2F3C7E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7269480" y="12801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3" name="Shape 19"/>
          <p:cNvSpPr/>
          <p:nvPr/>
        </p:nvSpPr>
        <p:spPr>
          <a:xfrm>
            <a:off x="7333488" y="2148840"/>
            <a:ext cx="603504" cy="603504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24" name="Image 2" descr="/home/claude/icons/lay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1944" y="2227296"/>
            <a:ext cx="446593" cy="446593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492240" y="29260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 in 3 Tiers</a:t>
            </a:r>
            <a:endParaRPr lang="en-US" sz="1450" dirty="0"/>
          </a:p>
        </p:txBody>
      </p:sp>
      <p:sp>
        <p:nvSpPr>
          <p:cNvPr id="26" name="Text 21"/>
          <p:cNvSpPr/>
          <p:nvPr/>
        </p:nvSpPr>
        <p:spPr>
          <a:xfrm>
            <a:off x="6537960" y="3383280"/>
            <a:ext cx="2194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242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Solved 5 basic, 5 intermediate, and 3 advanced SQL questions — aggregates, joins, subqueries, RANK().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8942832" y="1691640"/>
            <a:ext cx="2651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3"/>
          <p:cNvSpPr/>
          <p:nvPr/>
        </p:nvSpPr>
        <p:spPr>
          <a:xfrm>
            <a:off x="9189720" y="1554480"/>
            <a:ext cx="2651760" cy="3200400"/>
          </a:xfrm>
          <a:prstGeom prst="roundRect">
            <a:avLst>
              <a:gd name="adj" fmla="val 2759"/>
            </a:avLst>
          </a:prstGeom>
          <a:solidFill>
            <a:srgbClr val="F7F7F9"/>
          </a:solidFill>
          <a:ln/>
        </p:spPr>
      </p:sp>
      <p:sp>
        <p:nvSpPr>
          <p:cNvPr id="29" name="Shape 24"/>
          <p:cNvSpPr/>
          <p:nvPr/>
        </p:nvSpPr>
        <p:spPr>
          <a:xfrm>
            <a:off x="10149840" y="1280160"/>
            <a:ext cx="731520" cy="731520"/>
          </a:xfrm>
          <a:prstGeom prst="ellipse">
            <a:avLst/>
          </a:prstGeom>
          <a:solidFill>
            <a:srgbClr val="2F3C7E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10149840" y="12801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31" name="Shape 26"/>
          <p:cNvSpPr/>
          <p:nvPr/>
        </p:nvSpPr>
        <p:spPr>
          <a:xfrm>
            <a:off x="10213848" y="2148840"/>
            <a:ext cx="603504" cy="603504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32" name="Image 3" descr="/home/claude/icons/lightbul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92304" y="2227296"/>
            <a:ext cx="446593" cy="446593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9372600" y="29260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Summarize Insights</a:t>
            </a:r>
            <a:endParaRPr lang="en-US" sz="1450" dirty="0"/>
          </a:p>
        </p:txBody>
      </p:sp>
      <p:sp>
        <p:nvSpPr>
          <p:cNvPr id="34" name="Text 28"/>
          <p:cNvSpPr/>
          <p:nvPr/>
        </p:nvSpPr>
        <p:spPr>
          <a:xfrm>
            <a:off x="9418320" y="3383280"/>
            <a:ext cx="2194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242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raw query outputs into business-ready insights on revenue, demand, and category performance.</a:t>
            </a:r>
            <a:endParaRPr lang="en-US" sz="1100" dirty="0"/>
          </a:p>
        </p:txBody>
      </p:sp>
      <p:sp>
        <p:nvSpPr>
          <p:cNvPr id="35" name="Shape 29"/>
          <p:cNvSpPr/>
          <p:nvPr/>
        </p:nvSpPr>
        <p:spPr>
          <a:xfrm>
            <a:off x="548640" y="4983480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2F3C7E"/>
          </a:solidFill>
          <a:ln/>
        </p:spPr>
      </p:sp>
      <p:sp>
        <p:nvSpPr>
          <p:cNvPr id="36" name="Text 30"/>
          <p:cNvSpPr/>
          <p:nvPr/>
        </p:nvSpPr>
        <p:spPr>
          <a:xfrm>
            <a:off x="822960" y="5120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TECHNIQUES USED</a:t>
            </a:r>
            <a:endParaRPr lang="en-US" sz="1100" dirty="0"/>
          </a:p>
        </p:txBody>
      </p:sp>
      <p:sp>
        <p:nvSpPr>
          <p:cNvPr id="37" name="Text 31"/>
          <p:cNvSpPr/>
          <p:nvPr/>
        </p:nvSpPr>
        <p:spPr>
          <a:xfrm>
            <a:off x="822960" y="541324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Aggregate functions (SUM, COUNT, AVG, ROUND)   •   INNER JOIN across 4 tables   •   GROUP BY / ORDER BY   •   Correlated subqueries   •   RANK() OVER (PARTITION BY … ORDER BY …)</a:t>
            </a:r>
            <a:endParaRPr lang="en-US" sz="1150" dirty="0"/>
          </a:p>
        </p:txBody>
      </p:sp>
      <p:sp>
        <p:nvSpPr>
          <p:cNvPr id="38" name="Text 32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Pizza Sales SQL Analysis  |  Unnati Sonwane</a:t>
            </a:r>
            <a:endParaRPr lang="en-US" sz="950" dirty="0"/>
          </a:p>
        </p:txBody>
      </p:sp>
      <p:sp>
        <p:nvSpPr>
          <p:cNvPr id="39" name="Text 33"/>
          <p:cNvSpPr/>
          <p:nvPr/>
        </p:nvSpPr>
        <p:spPr>
          <a:xfrm>
            <a:off x="11368735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INSIGHTS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Headline Numbers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F7F7F9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645920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6" name="Image 0" descr="/home/claude/icons/recei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" y="1705356"/>
            <a:ext cx="338328" cy="3383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17627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21,350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31520" y="26974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 Placed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429000" y="146304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F96167"/>
          </a:solidFill>
          <a:ln/>
        </p:spPr>
      </p:sp>
      <p:sp>
        <p:nvSpPr>
          <p:cNvPr id="10" name="Shape 7"/>
          <p:cNvSpPr/>
          <p:nvPr/>
        </p:nvSpPr>
        <p:spPr>
          <a:xfrm>
            <a:off x="3630168" y="164592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/home/claude/icons/arrowU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9604" y="1705356"/>
            <a:ext cx="338328" cy="3383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11880" y="217627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$817,860.05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3611880" y="26974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FE8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Generated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309360" y="146304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F7F7F9"/>
          </a:solidFill>
          <a:ln/>
        </p:spPr>
      </p:sp>
      <p:sp>
        <p:nvSpPr>
          <p:cNvPr id="15" name="Shape 11"/>
          <p:cNvSpPr/>
          <p:nvPr/>
        </p:nvSpPr>
        <p:spPr>
          <a:xfrm>
            <a:off x="6510528" y="1645920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16" name="Image 2" descr="/home/claude/icons/crow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9964" y="1705356"/>
            <a:ext cx="338328" cy="33832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92240" y="217627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$35.95</a:t>
            </a:r>
            <a:endParaRPr lang="en-US" sz="2600" dirty="0"/>
          </a:p>
        </p:txBody>
      </p:sp>
      <p:sp>
        <p:nvSpPr>
          <p:cNvPr id="18" name="Text 13"/>
          <p:cNvSpPr/>
          <p:nvPr/>
        </p:nvSpPr>
        <p:spPr>
          <a:xfrm>
            <a:off x="6492240" y="26974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Highest-Priced Pizza (The Greek Pizza)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9189720" y="146304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F7F7F9"/>
          </a:solidFill>
          <a:ln/>
        </p:spPr>
      </p:sp>
      <p:sp>
        <p:nvSpPr>
          <p:cNvPr id="20" name="Shape 15"/>
          <p:cNvSpPr/>
          <p:nvPr/>
        </p:nvSpPr>
        <p:spPr>
          <a:xfrm>
            <a:off x="9390888" y="1645920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21" name="Image 3" descr="/home/claude/icons/rul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0324" y="1705356"/>
            <a:ext cx="338328" cy="33832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372600" y="217627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Large (L)</a:t>
            </a:r>
            <a:endParaRPr lang="en-US" sz="2600" dirty="0"/>
          </a:p>
        </p:txBody>
      </p:sp>
      <p:sp>
        <p:nvSpPr>
          <p:cNvPr id="23" name="Text 17"/>
          <p:cNvSpPr/>
          <p:nvPr/>
        </p:nvSpPr>
        <p:spPr>
          <a:xfrm>
            <a:off x="9372600" y="26974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Common Size — 18,526 orders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548640" y="34290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5 Most-Ordered Pizza Types (by quantity)</a:t>
            </a:r>
            <a:endParaRPr lang="en-US" sz="1500" dirty="0"/>
          </a:p>
        </p:txBody>
      </p:sp>
      <p:graphicFrame>
        <p:nvGraphicFramePr>
          <p:cNvPr id="25" name="Chart 0"/>
          <p:cNvGraphicFramePr/>
          <p:nvPr/>
        </p:nvGraphicFramePr>
        <p:xfrm>
          <a:off x="502920" y="3794760"/>
          <a:ext cx="11155680" cy="2606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26" name="Text 19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Pizza Sales SQL Analysis  |  Unnati Sonwane</a:t>
            </a:r>
            <a:endParaRPr lang="en-US" sz="950" dirty="0"/>
          </a:p>
        </p:txBody>
      </p:sp>
      <p:sp>
        <p:nvSpPr>
          <p:cNvPr id="27" name="Text 20"/>
          <p:cNvSpPr/>
          <p:nvPr/>
        </p:nvSpPr>
        <p:spPr>
          <a:xfrm>
            <a:off x="11368735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 INSIGHTS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 by Pizza Category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Quantity Ordered by Category</a:t>
            </a:r>
            <a:endParaRPr lang="en-US" sz="14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783080"/>
          <a:ext cx="562356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6355080" y="141732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Pizza Types Available per Category</a:t>
            </a:r>
            <a:endParaRPr lang="en-US" sz="1450" dirty="0"/>
          </a:p>
        </p:txBody>
      </p:sp>
      <p:graphicFrame>
        <p:nvGraphicFramePr>
          <p:cNvPr id="7" name="Chart 1"/>
          <p:cNvGraphicFramePr/>
          <p:nvPr/>
        </p:nvGraphicFramePr>
        <p:xfrm>
          <a:off x="6355080" y="1783080"/>
          <a:ext cx="534924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hape 4"/>
          <p:cNvSpPr/>
          <p:nvPr/>
        </p:nvSpPr>
        <p:spPr>
          <a:xfrm>
            <a:off x="6355080" y="5074920"/>
            <a:ext cx="5349240" cy="1143000"/>
          </a:xfrm>
          <a:prstGeom prst="roundRect">
            <a:avLst>
              <a:gd name="adj" fmla="val 6400"/>
            </a:avLst>
          </a:prstGeom>
          <a:solidFill>
            <a:srgbClr val="F7F7F9"/>
          </a:solidFill>
          <a:ln/>
        </p:spPr>
      </p:sp>
      <p:sp>
        <p:nvSpPr>
          <p:cNvPr id="9" name="Text 5"/>
          <p:cNvSpPr/>
          <p:nvPr/>
        </p:nvSpPr>
        <p:spPr>
          <a:xfrm>
            <a:off x="6583680" y="5193792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i="1" dirty="0">
                <a:solidFill>
                  <a:srgbClr val="242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variety is broadest in Supreme and Veggie (9 types each) and narrowest in Chicken (6) — yet Chicken still lands 4th in volume, meaning each Chicken pizza over-performs relative to its menu share.</a:t>
            </a:r>
            <a:endParaRPr lang="en-US" sz="1080" dirty="0"/>
          </a:p>
        </p:txBody>
      </p:sp>
      <p:sp>
        <p:nvSpPr>
          <p:cNvPr id="10" name="Text 6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Pizza Sales SQL Analysis  |  Unnati Sonwane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11368735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 &amp; ADVANCED INSIGHTS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 Pace &amp; Revenue Contribution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246120" cy="1371600"/>
          </a:xfrm>
          <a:prstGeom prst="roundRect">
            <a:avLst>
              <a:gd name="adj" fmla="val 5333"/>
            </a:avLst>
          </a:prstGeom>
          <a:solidFill>
            <a:srgbClr val="2F3C7E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60020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6" name="Image 0" descr="/home/claude/icons/c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620" y="1665580"/>
            <a:ext cx="372161" cy="3721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53619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~138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777240" y="2212848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Pizzas Ordered / Day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48640" y="29992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Top-Ranked Pizzas by Revenue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548640" y="32461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(within their category, via RANK())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48640" y="3566160"/>
            <a:ext cx="3246120" cy="457200"/>
          </a:xfrm>
          <a:prstGeom prst="roundRect">
            <a:avLst>
              <a:gd name="adj" fmla="val 10000"/>
            </a:avLst>
          </a:prstGeom>
          <a:solidFill>
            <a:srgbClr val="F7F7F9"/>
          </a:solidFill>
          <a:ln/>
        </p:spPr>
      </p:sp>
      <p:sp>
        <p:nvSpPr>
          <p:cNvPr id="12" name="Text 9"/>
          <p:cNvSpPr/>
          <p:nvPr/>
        </p:nvSpPr>
        <p:spPr>
          <a:xfrm>
            <a:off x="658368" y="356616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42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Thai Chicken Pizza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2788920" y="3566160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$43,434.25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48640" y="4050792"/>
            <a:ext cx="3246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15" name="Text 12"/>
          <p:cNvSpPr/>
          <p:nvPr/>
        </p:nvSpPr>
        <p:spPr>
          <a:xfrm>
            <a:off x="658368" y="4050792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42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Barbecue Chicken Pizza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2788920" y="4050792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$42,768.00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48640" y="4535424"/>
            <a:ext cx="3246120" cy="457200"/>
          </a:xfrm>
          <a:prstGeom prst="roundRect">
            <a:avLst>
              <a:gd name="adj" fmla="val 10000"/>
            </a:avLst>
          </a:prstGeom>
          <a:solidFill>
            <a:srgbClr val="F7F7F9"/>
          </a:solidFill>
          <a:ln/>
        </p:spPr>
      </p:sp>
      <p:sp>
        <p:nvSpPr>
          <p:cNvPr id="18" name="Text 15"/>
          <p:cNvSpPr/>
          <p:nvPr/>
        </p:nvSpPr>
        <p:spPr>
          <a:xfrm>
            <a:off x="658368" y="4535424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42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California Chicken Pizza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2788920" y="4535424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$41,409.50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548640" y="5020056"/>
            <a:ext cx="3246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21" name="Text 18"/>
          <p:cNvSpPr/>
          <p:nvPr/>
        </p:nvSpPr>
        <p:spPr>
          <a:xfrm>
            <a:off x="658368" y="5020056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42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Classic Deluxe Pizza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2788920" y="5020056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$38,180.50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548640" y="5504688"/>
            <a:ext cx="3246120" cy="457200"/>
          </a:xfrm>
          <a:prstGeom prst="roundRect">
            <a:avLst>
              <a:gd name="adj" fmla="val 10000"/>
            </a:avLst>
          </a:prstGeom>
          <a:solidFill>
            <a:srgbClr val="F7F7F9"/>
          </a:solidFill>
          <a:ln/>
        </p:spPr>
      </p:sp>
      <p:sp>
        <p:nvSpPr>
          <p:cNvPr id="24" name="Text 21"/>
          <p:cNvSpPr/>
          <p:nvPr/>
        </p:nvSpPr>
        <p:spPr>
          <a:xfrm>
            <a:off x="658368" y="5504688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42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Hawaiian Pizza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2788920" y="5504688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$32,273.25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548640" y="60350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Captured from ranked query output (top rows shown across categories).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4251960" y="1417320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Share by Category</a:t>
            </a:r>
            <a:endParaRPr lang="en-US" sz="1500" dirty="0"/>
          </a:p>
        </p:txBody>
      </p:sp>
      <p:graphicFrame>
        <p:nvGraphicFramePr>
          <p:cNvPr id="28" name="Chart 0"/>
          <p:cNvGraphicFramePr/>
          <p:nvPr/>
        </p:nvGraphicFramePr>
        <p:xfrm>
          <a:off x="4160520" y="1783080"/>
          <a:ext cx="4663440" cy="4617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9" name="Shape 25"/>
          <p:cNvSpPr/>
          <p:nvPr/>
        </p:nvSpPr>
        <p:spPr>
          <a:xfrm>
            <a:off x="9006840" y="1783080"/>
            <a:ext cx="2697480" cy="4617720"/>
          </a:xfrm>
          <a:prstGeom prst="roundRect">
            <a:avLst>
              <a:gd name="adj" fmla="val 2712"/>
            </a:avLst>
          </a:prstGeom>
          <a:solidFill>
            <a:srgbClr val="F7F7F9"/>
          </a:solidFill>
          <a:ln/>
        </p:spPr>
      </p:sp>
      <p:sp>
        <p:nvSpPr>
          <p:cNvPr id="30" name="Text 26"/>
          <p:cNvSpPr/>
          <p:nvPr/>
        </p:nvSpPr>
        <p:spPr>
          <a:xfrm>
            <a:off x="9189720" y="196596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9189720" y="2286000"/>
            <a:ext cx="237744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42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is well distributed (23.68%–26.91%) — no single category dominates. Chicken carries the fewest menu items yet its top pizzas rank among the single highest revenue earners overall, pointing to a higher average price point per unit.</a:t>
            </a:r>
            <a:endParaRPr lang="en-US" sz="1100" dirty="0"/>
          </a:p>
        </p:txBody>
      </p:sp>
      <p:sp>
        <p:nvSpPr>
          <p:cNvPr id="32" name="Text 28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Pizza Sales SQL Analysis  |  Unnati Sonwane</a:t>
            </a:r>
            <a:endParaRPr lang="en-US" sz="950" dirty="0"/>
          </a:p>
        </p:txBody>
      </p:sp>
      <p:sp>
        <p:nvSpPr>
          <p:cNvPr id="33" name="Text 29"/>
          <p:cNvSpPr/>
          <p:nvPr/>
        </p:nvSpPr>
        <p:spPr>
          <a:xfrm>
            <a:off x="11368735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F3C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5029200" cy="5029200"/>
          </a:xfrm>
          <a:prstGeom prst="ellipse">
            <a:avLst/>
          </a:prstGeom>
          <a:solidFill>
            <a:srgbClr val="212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SQL — Advanced Ranking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pizza types by revenue, within each category — using RANK() OVER (PARTITION BY …)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7223760" cy="4297680"/>
          </a:xfrm>
          <a:prstGeom prst="roundRect">
            <a:avLst>
              <a:gd name="adj" fmla="val 1702"/>
            </a:avLst>
          </a:prstGeom>
          <a:solidFill>
            <a:srgbClr val="1B2347"/>
          </a:solidFill>
          <a:ln w="12700">
            <a:solidFill>
              <a:srgbClr val="3A468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011680"/>
            <a:ext cx="146304" cy="146304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8" name="Shape 6"/>
          <p:cNvSpPr/>
          <p:nvPr/>
        </p:nvSpPr>
        <p:spPr>
          <a:xfrm>
            <a:off x="1033272" y="2011680"/>
            <a:ext cx="146304" cy="146304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9" name="Shape 7"/>
          <p:cNvSpPr/>
          <p:nvPr/>
        </p:nvSpPr>
        <p:spPr>
          <a:xfrm>
            <a:off x="1289304" y="2011680"/>
            <a:ext cx="146304" cy="146304"/>
          </a:xfrm>
          <a:prstGeom prst="ellipse">
            <a:avLst/>
          </a:prstGeom>
          <a:solidFill>
            <a:srgbClr val="84B59F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286000"/>
            <a:ext cx="6766560" cy="3703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Top 3 pizza types by revenue, within each category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name, revenue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(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category, name, revenue,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RANK() OVER (PARTITION BY category ORDER BY revenue DESC) AS rn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(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SELECT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pizza_types.category,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pizza_types.name,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SUM(order_details.quantity * pizzas.price) AS revenue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FROM pizza_types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JOIN pizzas ON pizza_types.pizza_type_id = pizzas.pizza_type_id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JOIN order_details ON order_details.pizza_id = pizzas.pizza_id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GROUP BY pizza_types.category, pizza_types.name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 AS category_revenue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AS ranked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rn &lt;= 3;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01000" y="1828800"/>
            <a:ext cx="3611880" cy="4297680"/>
          </a:xfrm>
          <a:prstGeom prst="roundRect">
            <a:avLst>
              <a:gd name="adj" fmla="val 2025"/>
            </a:avLst>
          </a:prstGeom>
          <a:solidFill>
            <a:srgbClr val="1B2347"/>
          </a:solidFill>
          <a:ln w="12700">
            <a:solidFill>
              <a:srgbClr val="3A468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0" y="205740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3" name="Image 0" descr="/home/claude/icons/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4980" y="2122780"/>
            <a:ext cx="372161" cy="372161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869680" y="21488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8229600" y="2734056"/>
            <a:ext cx="100584" cy="100584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6" name="Text 13"/>
          <p:cNvSpPr/>
          <p:nvPr/>
        </p:nvSpPr>
        <p:spPr>
          <a:xfrm>
            <a:off x="8430768" y="2624328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D8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query aggregates revenue per pizza type within its category.</a:t>
            </a:r>
            <a:endParaRPr lang="en-US" sz="1080" dirty="0"/>
          </a:p>
        </p:txBody>
      </p:sp>
      <p:sp>
        <p:nvSpPr>
          <p:cNvPr id="17" name="Shape 14"/>
          <p:cNvSpPr/>
          <p:nvPr/>
        </p:nvSpPr>
        <p:spPr>
          <a:xfrm>
            <a:off x="8229600" y="3529584"/>
            <a:ext cx="100584" cy="100584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8" name="Text 15"/>
          <p:cNvSpPr/>
          <p:nvPr/>
        </p:nvSpPr>
        <p:spPr>
          <a:xfrm>
            <a:off x="8430768" y="3419856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D8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RANK() OVER (PARTITION BY category ORDER BY revenue DESC) ranks pizzas within each category independently.</a:t>
            </a:r>
            <a:endParaRPr lang="en-US" sz="1080" dirty="0"/>
          </a:p>
        </p:txBody>
      </p:sp>
      <p:sp>
        <p:nvSpPr>
          <p:cNvPr id="19" name="Shape 16"/>
          <p:cNvSpPr/>
          <p:nvPr/>
        </p:nvSpPr>
        <p:spPr>
          <a:xfrm>
            <a:off x="8229600" y="4325112"/>
            <a:ext cx="100584" cy="100584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0" name="Text 17"/>
          <p:cNvSpPr/>
          <p:nvPr/>
        </p:nvSpPr>
        <p:spPr>
          <a:xfrm>
            <a:off x="8430768" y="4215384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D8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 query filters to rn &lt;= 3 — the top 3 earners per category.</a:t>
            </a:r>
            <a:endParaRPr lang="en-US" sz="1080" dirty="0"/>
          </a:p>
        </p:txBody>
      </p:sp>
      <p:sp>
        <p:nvSpPr>
          <p:cNvPr id="21" name="Shape 18"/>
          <p:cNvSpPr/>
          <p:nvPr/>
        </p:nvSpPr>
        <p:spPr>
          <a:xfrm>
            <a:off x="8229600" y="5120640"/>
            <a:ext cx="100584" cy="100584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2" name="Text 19"/>
          <p:cNvSpPr/>
          <p:nvPr/>
        </p:nvSpPr>
        <p:spPr>
          <a:xfrm>
            <a:off x="8430768" y="5010912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D8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Thai Chicken, BBQ Chicken &amp; California Chicken lead the Chicken category alone.</a:t>
            </a:r>
            <a:endParaRPr lang="en-US" sz="1080" dirty="0"/>
          </a:p>
        </p:txBody>
      </p:sp>
      <p:sp>
        <p:nvSpPr>
          <p:cNvPr id="23" name="Text 20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Pizza Sales SQL Analysis  |  Unnati Sonwane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11368735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&amp; SCOPE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Coverage of the Original Question Set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91672" cy="1005840"/>
          </a:xfrm>
          <a:prstGeom prst="roundRect">
            <a:avLst>
              <a:gd name="adj" fmla="val 7273"/>
            </a:avLst>
          </a:prstGeom>
          <a:solidFill>
            <a:srgbClr val="F7F7F9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6002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/home/claude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450" y="1683410"/>
            <a:ext cx="473659" cy="47365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536192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of 13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3749040" y="1572768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42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are fully answered with verified query results, captured directly from MySQL Workbench.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2651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questions were scoped but not re-run in this deck, due to a data-export gap: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48640" y="3108960"/>
            <a:ext cx="356616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49808" y="3310128"/>
            <a:ext cx="731520" cy="329184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12" name="Text 9"/>
          <p:cNvSpPr/>
          <p:nvPr/>
        </p:nvSpPr>
        <p:spPr>
          <a:xfrm>
            <a:off x="749808" y="3310128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49808" y="3767328"/>
            <a:ext cx="316382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Distribution of orders by hour of the day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49808" y="4681728"/>
            <a:ext cx="316382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HOUR(order_time) — ready once orders.csv is reloaded.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315968" y="3108960"/>
            <a:ext cx="356616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517136" y="3310128"/>
            <a:ext cx="731520" cy="329184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17" name="Text 14"/>
          <p:cNvSpPr/>
          <p:nvPr/>
        </p:nvSpPr>
        <p:spPr>
          <a:xfrm>
            <a:off x="4517136" y="3310128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Q10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517136" y="3767328"/>
            <a:ext cx="316382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3 pizza types overall by revenue (all categories combined)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517136" y="4681728"/>
            <a:ext cx="316382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related category-partitioned query (Q13) was run instead.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8083296" y="3108960"/>
            <a:ext cx="356616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284464" y="3310128"/>
            <a:ext cx="731520" cy="329184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22" name="Text 19"/>
          <p:cNvSpPr/>
          <p:nvPr/>
        </p:nvSpPr>
        <p:spPr>
          <a:xfrm>
            <a:off x="8284464" y="3310128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Q12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8284464" y="3767328"/>
            <a:ext cx="316382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Cumulative revenue over time (running total)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8284464" y="4681728"/>
            <a:ext cx="316382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SUM(revenue) OVER (ORDER BY order_date) — a window function.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548640" y="5623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SQL for all three is already written in the accompanying report — ready to execute once the source CSVs are re-loaded into MySQL.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Pizza Sales SQL Analysis  |  Unnati Sonwane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11368735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40680" cy="2331720"/>
          </a:xfrm>
          <a:prstGeom prst="roundRect">
            <a:avLst>
              <a:gd name="adj" fmla="val 3137"/>
            </a:avLst>
          </a:prstGeom>
          <a:solidFill>
            <a:srgbClr val="F7F7F9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673352"/>
            <a:ext cx="566928" cy="566928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6" name="Image 0" descr="/home/claude/icons/troph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373" y="1747053"/>
            <a:ext cx="419527" cy="4195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636776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Classic leads, but Chicken is close behind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22960" y="2468880"/>
            <a:ext cx="4892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42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pizzas top both quantity (14,888) and revenue share (26.9%), but Chicken-category pizzas dominate the single highest individual revenue earners (Thai Chicken, BBQ Chicken, California Chicken).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17920" y="1417320"/>
            <a:ext cx="5440680" cy="2331720"/>
          </a:xfrm>
          <a:prstGeom prst="roundRect">
            <a:avLst>
              <a:gd name="adj" fmla="val 3137"/>
            </a:avLst>
          </a:prstGeom>
          <a:solidFill>
            <a:srgbClr val="F7F7F9"/>
          </a:solidFill>
          <a:ln/>
        </p:spPr>
      </p:sp>
      <p:sp>
        <p:nvSpPr>
          <p:cNvPr id="10" name="Shape 7"/>
          <p:cNvSpPr/>
          <p:nvPr/>
        </p:nvSpPr>
        <p:spPr>
          <a:xfrm>
            <a:off x="6473952" y="1673352"/>
            <a:ext cx="566928" cy="566928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11" name="Image 1" descr="/home/claude/icons/rul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7653" y="1747053"/>
            <a:ext cx="419527" cy="41952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1636776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Large is the default size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492240" y="2468880"/>
            <a:ext cx="4892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42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18,526 orders were for Large pizzas — more than any other size — suggesting portion sizing and inventory planning should center on L.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977640"/>
            <a:ext cx="5440680" cy="2331720"/>
          </a:xfrm>
          <a:prstGeom prst="roundRect">
            <a:avLst>
              <a:gd name="adj" fmla="val 3137"/>
            </a:avLst>
          </a:prstGeom>
          <a:solidFill>
            <a:srgbClr val="F7F7F9"/>
          </a:solidFill>
          <a:ln/>
        </p:spPr>
      </p:sp>
      <p:sp>
        <p:nvSpPr>
          <p:cNvPr id="15" name="Shape 11"/>
          <p:cNvSpPr/>
          <p:nvPr/>
        </p:nvSpPr>
        <p:spPr>
          <a:xfrm>
            <a:off x="804672" y="4233672"/>
            <a:ext cx="566928" cy="566928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16" name="Image 2" descr="/home/claude/icons/c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8373" y="4307373"/>
            <a:ext cx="419527" cy="41952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4197096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 is steady, not spiky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22960" y="5029200"/>
            <a:ext cx="4892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42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average of ~138 pizzas ordered per day points to fairly consistent, predictable daily demand.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217920" y="3977640"/>
            <a:ext cx="5440680" cy="2331720"/>
          </a:xfrm>
          <a:prstGeom prst="roundRect">
            <a:avLst>
              <a:gd name="adj" fmla="val 3137"/>
            </a:avLst>
          </a:prstGeom>
          <a:solidFill>
            <a:srgbClr val="F7F7F9"/>
          </a:solidFill>
          <a:ln/>
        </p:spPr>
      </p:sp>
      <p:sp>
        <p:nvSpPr>
          <p:cNvPr id="20" name="Shape 15"/>
          <p:cNvSpPr/>
          <p:nvPr/>
        </p:nvSpPr>
        <p:spPr>
          <a:xfrm>
            <a:off x="6473952" y="4233672"/>
            <a:ext cx="566928" cy="566928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21" name="Image 3" descr="/home/claude/icons/percen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7653" y="4307373"/>
            <a:ext cx="419527" cy="41952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23760" y="4197096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is broad-based, not top-heavy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6492240" y="5029200"/>
            <a:ext cx="4892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42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 categories sit within ~3 points of each other in revenue share (23.7%–26.9%) — no single category dominates, so a balanced menu strategy is working.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Pizza Sales SQL Analysis  |  Unnati Sonwane</a:t>
            </a:r>
            <a:endParaRPr lang="en-US" sz="950" dirty="0"/>
          </a:p>
        </p:txBody>
      </p:sp>
      <p:sp>
        <p:nvSpPr>
          <p:cNvPr id="25" name="Text 19"/>
          <p:cNvSpPr/>
          <p:nvPr/>
        </p:nvSpPr>
        <p:spPr>
          <a:xfrm>
            <a:off x="11368735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F3C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2011680"/>
            <a:ext cx="5303520" cy="5303520"/>
          </a:xfrm>
          <a:prstGeom prst="ellipse">
            <a:avLst/>
          </a:prstGeom>
          <a:solidFill>
            <a:srgbClr val="212A5C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114800"/>
            <a:ext cx="4754880" cy="4754880"/>
          </a:xfrm>
          <a:prstGeom prst="ellipse">
            <a:avLst/>
          </a:prstGeom>
          <a:solidFill>
            <a:srgbClr val="212A5C"/>
          </a:solidFill>
          <a:ln/>
        </p:spPr>
      </p:sp>
      <p:sp>
        <p:nvSpPr>
          <p:cNvPr id="4" name="Shape 2"/>
          <p:cNvSpPr/>
          <p:nvPr/>
        </p:nvSpPr>
        <p:spPr>
          <a:xfrm>
            <a:off x="5638648" y="777240"/>
            <a:ext cx="914400" cy="91440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5" name="Image 0" descr="/home/claude/icons/pizz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7520" y="896112"/>
            <a:ext cx="676656" cy="6766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1828800"/>
            <a:ext cx="121916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1508760" y="26060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SQL scripts, query outputs, and this project write-up are available on my GitHub and in my portfolio.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370332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212A5C"/>
          </a:solidFill>
          <a:ln/>
        </p:spPr>
      </p:sp>
      <p:sp>
        <p:nvSpPr>
          <p:cNvPr id="9" name="Shape 6"/>
          <p:cNvSpPr/>
          <p:nvPr/>
        </p:nvSpPr>
        <p:spPr>
          <a:xfrm>
            <a:off x="1581912" y="3959352"/>
            <a:ext cx="585216" cy="585216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0" name="Image 1" descr="/home/claude/icons/mai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7990" y="4035430"/>
            <a:ext cx="433060" cy="4330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85800" y="466344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5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685800" y="491032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sonwaneunnati1972@gmail.com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3429000" y="370332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212A5C"/>
          </a:solidFill>
          <a:ln/>
        </p:spPr>
      </p:sp>
      <p:sp>
        <p:nvSpPr>
          <p:cNvPr id="14" name="Shape 10"/>
          <p:cNvSpPr/>
          <p:nvPr/>
        </p:nvSpPr>
        <p:spPr>
          <a:xfrm>
            <a:off x="4462272" y="3959352"/>
            <a:ext cx="585216" cy="585216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5" name="Image 2" descr="/home/claude/icons/pho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8350" y="4035430"/>
            <a:ext cx="433060" cy="4330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566160" y="466344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5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3566160" y="491032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8265029589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6309360" y="370332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212A5C"/>
          </a:solidFill>
          <a:ln/>
        </p:spPr>
      </p:sp>
      <p:sp>
        <p:nvSpPr>
          <p:cNvPr id="19" name="Shape 14"/>
          <p:cNvSpPr/>
          <p:nvPr/>
        </p:nvSpPr>
        <p:spPr>
          <a:xfrm>
            <a:off x="7342632" y="3959352"/>
            <a:ext cx="585216" cy="585216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20" name="Image 3" descr="/home/claude/icons/linkedi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18710" y="4035430"/>
            <a:ext cx="433060" cy="4330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446520" y="466344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5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6446520" y="491032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linkedin.com/in/unnati-sonwane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9189720" y="370332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212A5C"/>
          </a:solidFill>
          <a:ln/>
        </p:spPr>
      </p:sp>
      <p:sp>
        <p:nvSpPr>
          <p:cNvPr id="24" name="Shape 18"/>
          <p:cNvSpPr/>
          <p:nvPr/>
        </p:nvSpPr>
        <p:spPr>
          <a:xfrm>
            <a:off x="10222992" y="3959352"/>
            <a:ext cx="585216" cy="585216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25" name="Image 4" descr="/home/claude/icons/pi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99070" y="4035430"/>
            <a:ext cx="433060" cy="43306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326880" y="466344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5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000" dirty="0"/>
          </a:p>
        </p:txBody>
      </p:sp>
      <p:sp>
        <p:nvSpPr>
          <p:cNvPr id="27" name="Text 20"/>
          <p:cNvSpPr/>
          <p:nvPr/>
        </p:nvSpPr>
        <p:spPr>
          <a:xfrm>
            <a:off x="9326880" y="491032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Gondia, Maharashtra</a:t>
            </a:r>
            <a:endParaRPr lang="en-US" sz="1050" dirty="0"/>
          </a:p>
        </p:txBody>
      </p:sp>
      <p:sp>
        <p:nvSpPr>
          <p:cNvPr id="28" name="Text 21"/>
          <p:cNvSpPr/>
          <p:nvPr/>
        </p:nvSpPr>
        <p:spPr>
          <a:xfrm>
            <a:off x="0" y="6547104"/>
            <a:ext cx="121916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Pizza Sales SQL Analysis  |  Unnati Sonwane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1569</Words>
  <Application>Microsoft Office PowerPoint</Application>
  <PresentationFormat>Widescreen</PresentationFormat>
  <Paragraphs>227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Unnati Sonwane</cp:lastModifiedBy>
  <cp:revision>1</cp:revision>
  <dcterms:created xsi:type="dcterms:W3CDTF">2026-08-07T07:00:35Z</dcterms:created>
  <dcterms:modified xsi:type="dcterms:W3CDTF">2026-08-07T07:06:41Z</dcterms:modified>
</cp:coreProperties>
</file>